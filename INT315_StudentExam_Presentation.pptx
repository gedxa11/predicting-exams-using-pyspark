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5" r:id="rId12"/>
    <p:sldId id="266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18" d="100"/>
          <a:sy n="118" d="100"/>
        </p:scale>
        <p:origin x="442" y="-8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14773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5669280" y="-1097280"/>
            <a:ext cx="5029200" cy="50292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6217920" y="-548640"/>
            <a:ext cx="3840480" cy="3840480"/>
          </a:xfrm>
          <a:prstGeom prst="ellipse">
            <a:avLst/>
          </a:prstGeom>
          <a:solidFill>
            <a:srgbClr val="1E88E5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85800" y="502920"/>
            <a:ext cx="2377440" cy="292608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5029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</a:rPr>
              <a:t>INT315 — CLUSTER COMPUTING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85800" y="100584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</a:rPr>
              <a:t>Predicting Student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685800" y="169164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00BFA5"/>
                </a:solidFill>
              </a:rPr>
              <a:t>Exam Success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685800" y="263347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0A4AE"/>
                </a:solidFill>
              </a:rPr>
              <a:t>Apache Spark  |  PySpark MLlib  |  Kafka Streaming  |  GraphX  |  Spark SQL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3090672"/>
            <a:ext cx="5029200" cy="0"/>
          </a:xfrm>
          <a:prstGeom prst="line">
            <a:avLst/>
          </a:prstGeom>
          <a:noFill/>
          <a:ln w="1905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85800" y="321868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8909C"/>
                </a:solidFill>
              </a:rPr>
              <a:t>UCI Student Performance  |  C:\INT315\student-mat.csv  |  Output: C:\INT315\output\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85800" y="3657600"/>
            <a:ext cx="2606040" cy="77724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85800" y="370332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FA5"/>
                </a:solidFill>
              </a:rPr>
              <a:t>Student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85800" y="395020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Gerald Tatenda Muzembe | A01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520440" y="3657600"/>
            <a:ext cx="2606040" cy="77724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520440" y="370332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FA5"/>
                </a:solidFill>
              </a:rPr>
              <a:t>Course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520440" y="395020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INT315 / Section EM301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55080" y="3657600"/>
            <a:ext cx="2606040" cy="77724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355080" y="370332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FA5"/>
                </a:solidFill>
              </a:rPr>
              <a:t>Registration Number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355080" y="395020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12200184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</a:rPr>
              <a:t>Presentation Agenda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80467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565C0"/>
                </a:solidFill>
              </a:rPr>
              <a:t>Six units of INT315 — mapped to project deliverables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416052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502920" cy="713232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74320" y="128016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1389888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D1B2A"/>
                </a:solidFill>
              </a:rPr>
              <a:t>Introduction &amp; Problem Statement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754880" y="1280160"/>
            <a:ext cx="416052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754880" y="1280160"/>
            <a:ext cx="502920" cy="713232"/>
          </a:xfrm>
          <a:prstGeom prst="rect">
            <a:avLst/>
          </a:prstGeom>
          <a:solidFill>
            <a:srgbClr val="EF53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754880" y="128016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49240" y="1389888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D1B2A"/>
                </a:solidFill>
              </a:rPr>
              <a:t>Why Local FS Instead of HDFS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274320" y="2139696"/>
            <a:ext cx="416052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274320" y="2139696"/>
            <a:ext cx="502920" cy="713232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274320" y="2139696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68680" y="2249424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D1B2A"/>
                </a:solidFill>
              </a:rPr>
              <a:t>Unit I — Spark vs Hadoop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754880" y="2139696"/>
            <a:ext cx="416052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754880" y="2139696"/>
            <a:ext cx="502920" cy="713232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754880" y="2139696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349240" y="2249424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D1B2A"/>
                </a:solidFill>
              </a:rPr>
              <a:t>Unit III — RDD Operations &amp; GraphX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274320" y="2999232"/>
            <a:ext cx="416052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274320" y="2999232"/>
            <a:ext cx="502920" cy="713232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274320" y="2999232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68680" y="310896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D1B2A"/>
                </a:solidFill>
              </a:rPr>
              <a:t>Unit IV — Spark SQL &amp; DataFrames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4754880" y="2999232"/>
            <a:ext cx="416052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754880" y="2999232"/>
            <a:ext cx="502920" cy="713232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754880" y="2999232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06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349240" y="310896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D1B2A"/>
                </a:solidFill>
              </a:rPr>
              <a:t>Unit V — Kafka Streaming Pipeline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274320" y="3858768"/>
            <a:ext cx="416052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274320" y="3858768"/>
            <a:ext cx="502920" cy="713232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274320" y="3858768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07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68680" y="3968496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D1B2A"/>
                </a:solidFill>
              </a:rPr>
              <a:t>Unit VI — MLlib Classification Pipeline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4754880" y="3858768"/>
            <a:ext cx="416052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4754880" y="3858768"/>
            <a:ext cx="502920" cy="713232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754880" y="3858768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08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349240" y="3968496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D1B2A"/>
                </a:solidFill>
              </a:rPr>
              <a:t>Results, Visualisations &amp; Conclusions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B71C1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274320" y="109728"/>
            <a:ext cx="2926080" cy="347472"/>
          </a:xfrm>
          <a:prstGeom prst="rect">
            <a:avLst/>
          </a:prstGeom>
          <a:solidFill>
            <a:srgbClr val="B71C1C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74320" y="10972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WHY NOT HDFS?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201168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</a:rPr>
              <a:t>Local File System vs HDFS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80467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565C0"/>
                </a:solidFill>
              </a:rPr>
              <a:t>Why C:\INT315\ is used instead of HDFS for this project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1168" y="1234440"/>
            <a:ext cx="416052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01168" y="1234440"/>
            <a:ext cx="4160520" cy="365760"/>
          </a:xfrm>
          <a:prstGeom prst="rect">
            <a:avLst/>
          </a:prstGeom>
          <a:solidFill>
            <a:srgbClr val="B71C1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01168" y="123444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HDFS Setup (Not Used)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" y="1719072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62828"/>
                </a:solidFill>
              </a:rPr>
              <a:t>✗  </a:t>
            </a:r>
            <a:r>
              <a:rPr lang="en-US" sz="1200" dirty="0">
                <a:solidFill>
                  <a:srgbClr val="37474F"/>
                </a:solidFill>
              </a:rPr>
              <a:t>HDFS requires Namenode + Datanode + YARN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" y="2231136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62828"/>
                </a:solidFill>
              </a:rPr>
              <a:t>✗  </a:t>
            </a:r>
            <a:r>
              <a:rPr lang="en-US" sz="1200" dirty="0">
                <a:solidFill>
                  <a:srgbClr val="37474F"/>
                </a:solidFill>
              </a:rPr>
              <a:t>Complex multi-service setup on a single laptop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0040" y="2743200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62828"/>
                </a:solidFill>
              </a:rPr>
              <a:t>✗  </a:t>
            </a:r>
            <a:r>
              <a:rPr lang="en-US" sz="1200" dirty="0">
                <a:solidFill>
                  <a:srgbClr val="37474F"/>
                </a:solidFill>
              </a:rPr>
              <a:t>Designed for TB-scale multi-node clusters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0040" y="3255264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62828"/>
                </a:solidFill>
              </a:rPr>
              <a:t>✗  </a:t>
            </a:r>
            <a:r>
              <a:rPr lang="en-US" sz="1200" dirty="0">
                <a:solidFill>
                  <a:srgbClr val="37474F"/>
                </a:solidFill>
              </a:rPr>
              <a:t>No practical benefit for a 395-row dataset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0040" y="3767328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62828"/>
                </a:solidFill>
              </a:rPr>
              <a:t>✗  </a:t>
            </a:r>
            <a:r>
              <a:rPr lang="en-US" sz="1200" dirty="0">
                <a:solidFill>
                  <a:srgbClr val="37474F"/>
                </a:solidFill>
              </a:rPr>
              <a:t>PySpark reads local files with identical API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17720" y="1234440"/>
            <a:ext cx="4325112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617720" y="1234440"/>
            <a:ext cx="4325112" cy="365760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617720" y="1234440"/>
            <a:ext cx="4325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Local File System (This Project)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36592" y="1719072"/>
            <a:ext cx="4069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</a:rPr>
              <a:t>✓  </a:t>
            </a:r>
            <a:r>
              <a:rPr lang="en-US" sz="1200" dirty="0">
                <a:solidFill>
                  <a:srgbClr val="37474F"/>
                </a:solidFill>
              </a:rPr>
              <a:t>C:\INT315\student-mat.csv — direct read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36592" y="2231136"/>
            <a:ext cx="4069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</a:rPr>
              <a:t>✓  </a:t>
            </a:r>
            <a:r>
              <a:rPr lang="en-US" sz="1200" dirty="0">
                <a:solidFill>
                  <a:srgbClr val="37474F"/>
                </a:solidFill>
              </a:rPr>
              <a:t>Only the path prefix differs (file:// vs hdfs://)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36592" y="2743200"/>
            <a:ext cx="4069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</a:rPr>
              <a:t>✓  </a:t>
            </a:r>
            <a:r>
              <a:rPr lang="en-US" sz="1200" dirty="0">
                <a:solidFill>
                  <a:srgbClr val="37474F"/>
                </a:solidFill>
              </a:rPr>
              <a:t>Spark runs in local[*] mode — all CPU cores used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36592" y="3255264"/>
            <a:ext cx="4069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</a:rPr>
              <a:t>✓  </a:t>
            </a:r>
            <a:r>
              <a:rPr lang="en-US" sz="1200" dirty="0">
                <a:solidFill>
                  <a:srgbClr val="37474F"/>
                </a:solidFill>
              </a:rPr>
              <a:t>Output charts saved to C:\INT315\output\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36592" y="3767328"/>
            <a:ext cx="4069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</a:rPr>
              <a:t>✓  </a:t>
            </a:r>
            <a:r>
              <a:rPr lang="en-US" sz="1200" dirty="0">
                <a:solidFill>
                  <a:srgbClr val="37474F"/>
                </a:solidFill>
              </a:rPr>
              <a:t>In production: change path to hdfs://... only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01168" y="4663440"/>
            <a:ext cx="8741664" cy="329184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292608" y="4663440"/>
            <a:ext cx="8503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BFA5"/>
                </a:solidFill>
              </a:rPr>
              <a:t>CSV_PATH = r'C:\\INT315\\student-mat.csv'  |  Cluster: CSV_PATH = 'hdfs://namenode:9000/user/student/input/student-mat.csv'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274320" y="164592"/>
            <a:ext cx="2926080" cy="347472"/>
          </a:xfrm>
          <a:prstGeom prst="rect">
            <a:avLst/>
          </a:prstGeom>
          <a:solidFill>
            <a:srgbClr val="0D1B2A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74320" y="16459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UNIT I — Introduction to Spark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201168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</a:rPr>
              <a:t>Spark vs Hadoop MapReduce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01168" y="1207008"/>
            <a:ext cx="2743200" cy="347472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01168" y="120700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Dimension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999232" y="1207008"/>
            <a:ext cx="2834640" cy="347472"/>
          </a:xfrm>
          <a:prstGeom prst="rect">
            <a:avLst/>
          </a:prstGeom>
          <a:solidFill>
            <a:srgbClr val="5D403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999232" y="120700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Hadoop MapReduce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888736" y="1207008"/>
            <a:ext cx="3291840" cy="347472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888736" y="120700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Apache Spark ✓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01168" y="1554480"/>
            <a:ext cx="274320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2999232" y="1554480"/>
            <a:ext cx="2834640" cy="457200"/>
          </a:xfrm>
          <a:prstGeom prst="rect">
            <a:avLst/>
          </a:prstGeom>
          <a:solidFill>
            <a:srgbClr val="FBE9E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5888736" y="1554480"/>
            <a:ext cx="3291840" cy="457200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292608" y="15544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Processing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090672" y="15544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D4C41"/>
                </a:solidFill>
              </a:rPr>
              <a:t>Batch only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980176" y="15544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565C0"/>
                </a:solidFill>
              </a:rPr>
              <a:t>Batch + Stream + ML + Graph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01168" y="2029968"/>
            <a:ext cx="2743200" cy="457200"/>
          </a:xfrm>
          <a:prstGeom prst="rect">
            <a:avLst/>
          </a:prstGeom>
          <a:solidFill>
            <a:srgbClr val="E3ED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2999232" y="2029968"/>
            <a:ext cx="2834640" cy="457200"/>
          </a:xfrm>
          <a:prstGeom prst="rect">
            <a:avLst/>
          </a:prstGeom>
          <a:solidFill>
            <a:srgbClr val="FFF3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5888736" y="2029968"/>
            <a:ext cx="3291840" cy="457200"/>
          </a:xfrm>
          <a:prstGeom prst="rect">
            <a:avLst/>
          </a:prstGeom>
          <a:solidFill>
            <a:srgbClr val="EF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292608" y="202996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Storage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090672" y="202996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D4C41"/>
                </a:solidFill>
              </a:rPr>
              <a:t>Disk after every phase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980176" y="202996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565C0"/>
                </a:solidFill>
              </a:rPr>
              <a:t>In-Memory (100x faster)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01168" y="2505456"/>
            <a:ext cx="274320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2999232" y="2505456"/>
            <a:ext cx="2834640" cy="457200"/>
          </a:xfrm>
          <a:prstGeom prst="rect">
            <a:avLst/>
          </a:prstGeom>
          <a:solidFill>
            <a:srgbClr val="FBE9E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5888736" y="2505456"/>
            <a:ext cx="3291840" cy="457200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92608" y="2505456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Real-Time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090672" y="2505456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D4C41"/>
                </a:solidFill>
              </a:rPr>
              <a:t>Requires Apache Storm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980176" y="2505456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565C0"/>
                </a:solidFill>
              </a:rPr>
              <a:t>Structured Streaming built-in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201168" y="2980944"/>
            <a:ext cx="2743200" cy="457200"/>
          </a:xfrm>
          <a:prstGeom prst="rect">
            <a:avLst/>
          </a:prstGeom>
          <a:solidFill>
            <a:srgbClr val="E3ED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2999232" y="2980944"/>
            <a:ext cx="2834640" cy="457200"/>
          </a:xfrm>
          <a:prstGeom prst="rect">
            <a:avLst/>
          </a:prstGeom>
          <a:solidFill>
            <a:srgbClr val="FFF3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5888736" y="2980944"/>
            <a:ext cx="3291840" cy="457200"/>
          </a:xfrm>
          <a:prstGeom prst="rect">
            <a:avLst/>
          </a:prstGeom>
          <a:solidFill>
            <a:srgbClr val="EF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292608" y="2980944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ML Support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090672" y="2980944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D4C41"/>
                </a:solidFill>
              </a:rPr>
              <a:t>Mahout (limited)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980176" y="2980944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565C0"/>
                </a:solidFill>
              </a:rPr>
              <a:t>MLlib — rich distributed ML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201168" y="3456432"/>
            <a:ext cx="274320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2999232" y="3456432"/>
            <a:ext cx="2834640" cy="457200"/>
          </a:xfrm>
          <a:prstGeom prst="rect">
            <a:avLst/>
          </a:prstGeom>
          <a:solidFill>
            <a:srgbClr val="FBE9E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5888736" y="3456432"/>
            <a:ext cx="3291840" cy="457200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292608" y="345643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Graph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090672" y="345643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D4C41"/>
                </a:solidFill>
              </a:rPr>
              <a:t>Giraph (separate)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5980176" y="345643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565C0"/>
                </a:solidFill>
              </a:rPr>
              <a:t>GraphX — unified API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201168" y="3931920"/>
            <a:ext cx="2743200" cy="457200"/>
          </a:xfrm>
          <a:prstGeom prst="rect">
            <a:avLst/>
          </a:prstGeom>
          <a:solidFill>
            <a:srgbClr val="E3ED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2999232" y="3931920"/>
            <a:ext cx="2834640" cy="457200"/>
          </a:xfrm>
          <a:prstGeom prst="rect">
            <a:avLst/>
          </a:prstGeom>
          <a:solidFill>
            <a:srgbClr val="FFF3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5888736" y="3931920"/>
            <a:ext cx="3291840" cy="457200"/>
          </a:xfrm>
          <a:prstGeom prst="rect">
            <a:avLst/>
          </a:prstGeom>
          <a:solidFill>
            <a:srgbClr val="EF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292608" y="39319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Ease of Use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3090672" y="39319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D4C41"/>
                </a:solidFill>
              </a:rPr>
              <a:t>Java-heavy, verbose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5980176" y="39319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565C0"/>
                </a:solidFill>
              </a:rPr>
              <a:t>Python / Scala / R APIs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201168" y="4617720"/>
            <a:ext cx="8979408" cy="347472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274320" y="461772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BFA5"/>
                </a:solidFill>
              </a:rPr>
              <a:t>Laptop: spark.read.csv(r'C:\\INT315\\student-mat.csv')   |   Cluster: spark.read.csv('hdfs://namenode:9000/...')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274320" y="109728"/>
            <a:ext cx="2926080" cy="347472"/>
          </a:xfrm>
          <a:prstGeom prst="rect">
            <a:avLst/>
          </a:prstGeom>
          <a:solidFill>
            <a:srgbClr val="00BFA5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74320" y="10972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UNIT III — RDD &amp; Graph Analytics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475488"/>
            <a:ext cx="8595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RDD Operations &amp; GraphX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82880" y="1051560"/>
            <a:ext cx="4206240" cy="3474720"/>
          </a:xfrm>
          <a:prstGeom prst="rect">
            <a:avLst/>
          </a:prstGeom>
          <a:solidFill>
            <a:srgbClr val="0D2137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74320" y="1115568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FA5"/>
                </a:solidFill>
              </a:rPr>
              <a:t>RDD Transformations &amp; Actions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92608" y="150876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D54F"/>
                </a:solidFill>
              </a:rPr>
              <a:t>map()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572768" y="150876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</a:rPr>
              <a:t>Extract (school, G3) pairs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92608" y="1993392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D54F"/>
                </a:solidFill>
              </a:rPr>
              <a:t>filter()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572768" y="199339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</a:rPr>
              <a:t>Students where absences &gt; 5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92608" y="2478024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D54F"/>
                </a:solidFill>
              </a:rPr>
              <a:t>reduceByKey()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572768" y="2478024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</a:rPr>
              <a:t>Avg G3 per school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92608" y="2962656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D54F"/>
                </a:solidFill>
              </a:rPr>
              <a:t>groupByKey()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572768" y="2962656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</a:rPr>
              <a:t>Ages by address type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92608" y="3447288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D54F"/>
                </a:solidFill>
              </a:rPr>
              <a:t>Broadcast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572768" y="344728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</a:rPr>
              <a:t>Passing threshold to workers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92608" y="393192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D54F"/>
                </a:solidFill>
              </a:rPr>
              <a:t>Accumulator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572768" y="393192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</a:rPr>
              <a:t>Total failures across cluster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17720" y="1051560"/>
            <a:ext cx="4325112" cy="3474720"/>
          </a:xfrm>
          <a:prstGeom prst="rect">
            <a:avLst/>
          </a:prstGeom>
          <a:solidFill>
            <a:srgbClr val="0D2137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709160" y="1115568"/>
            <a:ext cx="4069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88E5"/>
                </a:solidFill>
              </a:rPr>
              <a:t>GraphX — Student Peer Network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788152" y="1856232"/>
            <a:ext cx="1463040" cy="0"/>
          </a:xfrm>
          <a:prstGeom prst="line">
            <a:avLst/>
          </a:prstGeom>
          <a:noFill/>
          <a:ln w="19050">
            <a:solidFill>
              <a:srgbClr val="3747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5788152" y="1856232"/>
            <a:ext cx="822960" cy="594360"/>
          </a:xfrm>
          <a:prstGeom prst="line">
            <a:avLst/>
          </a:prstGeom>
          <a:noFill/>
          <a:ln w="19050">
            <a:solidFill>
              <a:srgbClr val="3747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7251192" y="1673352"/>
            <a:ext cx="0" cy="777240"/>
          </a:xfrm>
          <a:prstGeom prst="line">
            <a:avLst/>
          </a:prstGeom>
          <a:noFill/>
          <a:ln w="19050">
            <a:solidFill>
              <a:srgbClr val="3747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611112" y="2450592"/>
            <a:ext cx="0" cy="502920"/>
          </a:xfrm>
          <a:prstGeom prst="line">
            <a:avLst/>
          </a:prstGeom>
          <a:noFill/>
          <a:ln w="19050">
            <a:solidFill>
              <a:srgbClr val="3747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7251192" y="1673352"/>
            <a:ext cx="548640" cy="1005840"/>
          </a:xfrm>
          <a:prstGeom prst="line">
            <a:avLst/>
          </a:prstGeom>
          <a:noFill/>
          <a:ln w="19050">
            <a:solidFill>
              <a:srgbClr val="3747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6611112" y="2450592"/>
            <a:ext cx="1188720" cy="228600"/>
          </a:xfrm>
          <a:prstGeom prst="line">
            <a:avLst/>
          </a:prstGeom>
          <a:noFill/>
          <a:ln w="19050">
            <a:solidFill>
              <a:srgbClr val="3747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5669280" y="1737360"/>
            <a:ext cx="384048" cy="384048"/>
          </a:xfrm>
          <a:prstGeom prst="ellipse">
            <a:avLst/>
          </a:prstGeom>
          <a:solidFill>
            <a:srgbClr val="00BFA5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566928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S1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132320" y="1554480"/>
            <a:ext cx="384048" cy="384048"/>
          </a:xfrm>
          <a:prstGeom prst="ellipse">
            <a:avLst/>
          </a:prstGeom>
          <a:solidFill>
            <a:srgbClr val="1E88E5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7132320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S2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492240" y="2331720"/>
            <a:ext cx="384048" cy="384048"/>
          </a:xfrm>
          <a:prstGeom prst="ellipse">
            <a:avLst/>
          </a:prstGeom>
          <a:solidFill>
            <a:srgbClr val="FFD54F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6492240" y="2331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S3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486400" y="2834640"/>
            <a:ext cx="384048" cy="384048"/>
          </a:xfrm>
          <a:prstGeom prst="ellipse">
            <a:avLst/>
          </a:prstGeom>
          <a:solidFill>
            <a:srgbClr val="1565C0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5486400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S4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680960" y="2560320"/>
            <a:ext cx="384048" cy="384048"/>
          </a:xfrm>
          <a:prstGeom prst="ellipse">
            <a:avLst/>
          </a:prstGeom>
          <a:solidFill>
            <a:srgbClr val="00BFA5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7680960" y="2560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S5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709160" y="3401568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BFA5"/>
                </a:solidFill>
              </a:rPr>
              <a:t>▸  </a:t>
            </a:r>
            <a:r>
              <a:rPr lang="en-US" sz="1150" dirty="0">
                <a:solidFill>
                  <a:srgbClr val="B0BEC5"/>
                </a:solidFill>
              </a:rPr>
              <a:t>395 vertices (students), edges = peer links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4709160" y="3803904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BFA5"/>
                </a:solidFill>
              </a:rPr>
              <a:t>▸  </a:t>
            </a:r>
            <a:r>
              <a:rPr lang="en-US" sz="1150" dirty="0">
                <a:solidFill>
                  <a:srgbClr val="B0BEC5"/>
                </a:solidFill>
              </a:rPr>
              <a:t>Degree centrality → influential students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709160" y="4206240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BFA5"/>
                </a:solidFill>
              </a:rPr>
              <a:t>▸  </a:t>
            </a:r>
            <a:r>
              <a:rPr lang="en-US" sz="1150" dirty="0">
                <a:solidFill>
                  <a:srgbClr val="B0BEC5"/>
                </a:solidFill>
              </a:rPr>
              <a:t>Community stats by school (clustering)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4709160" y="4608576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BFA5"/>
                </a:solidFill>
              </a:rPr>
              <a:t>▸  </a:t>
            </a:r>
            <a:r>
              <a:rPr lang="en-US" sz="1150" dirty="0">
                <a:solidFill>
                  <a:srgbClr val="B0BEC5"/>
                </a:solidFill>
              </a:rPr>
              <a:t>Sim. PageRank via GraphFrames API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274320" y="109728"/>
            <a:ext cx="2926080" cy="347472"/>
          </a:xfrm>
          <a:prstGeom prst="rect">
            <a:avLst/>
          </a:prstGeom>
          <a:solidFill>
            <a:srgbClr val="1E88E5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74320" y="10972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UNIT IV — Spark SQL &amp; DataFrames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201168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</a:rPr>
              <a:t>Spark SQL Queries Executed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01168" y="1234440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01168" y="1234440"/>
            <a:ext cx="54864" cy="100584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65760" y="132588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Q1 — GROUP BY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655064"/>
            <a:ext cx="38862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46E7A"/>
                </a:solidFill>
              </a:rPr>
              <a:t>Pass rate per school — COUNT, SUM, ROUND aggregation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27448" y="1234440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727448" y="1234440"/>
            <a:ext cx="54864" cy="100584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892040" y="132588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Q2 — Multi-Agg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92040" y="1655064"/>
            <a:ext cx="38862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46E7A"/>
                </a:solidFill>
              </a:rPr>
              <a:t>Avg/Max/Min grade &amp; absences grouped by study time band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01168" y="2423160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01168" y="2423160"/>
            <a:ext cx="54864" cy="1005840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65760" y="251460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Q3 — HAVING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2843784"/>
            <a:ext cx="38862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46E7A"/>
                </a:solidFill>
              </a:rPr>
              <a:t>Groups where AVG(G3) &gt;= 10, filtered post-aggregation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27448" y="2423160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727448" y="2423160"/>
            <a:ext cx="54864" cy="100584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892040" y="251460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Q4 — LIKE Wildcard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92040" y="2843784"/>
            <a:ext cx="38862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46E7A"/>
                </a:solidFill>
              </a:rPr>
              <a:t>Students with parent in health% profession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01168" y="3611880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201168" y="3611880"/>
            <a:ext cx="54864" cy="100584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65760" y="370332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Q5 — JOIN Analysis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65760" y="4032504"/>
            <a:ext cx="38862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46E7A"/>
                </a:solidFill>
              </a:rPr>
              <a:t>Internet access vs pass rate comparison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727448" y="3611880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4727448" y="3611880"/>
            <a:ext cx="54864" cy="1005840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892040" y="370332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Q6 — Window Fn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92040" y="4032504"/>
            <a:ext cx="38862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46E7A"/>
                </a:solidFill>
              </a:rPr>
              <a:t>RANK() students within each school partition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201168" y="4626864"/>
            <a:ext cx="8741664" cy="347472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292608" y="4626864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D54F"/>
                </a:solidFill>
              </a:rPr>
              <a:t>SELECT school, ROUND(SUM(pass)/COUNT(*)*100,2) AS pass_rate FROM students GROUP BY school ORDER BY pass_rate DESC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274320" y="109728"/>
            <a:ext cx="2926080" cy="347472"/>
          </a:xfrm>
          <a:prstGeom prst="rect">
            <a:avLst/>
          </a:prstGeom>
          <a:solidFill>
            <a:srgbClr val="1E88E5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74320" y="10972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UNIT V — Kafka Streaming Pipeline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475488"/>
            <a:ext cx="8595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Apache Kafka + Spark Structured Streaming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64592" y="1097280"/>
            <a:ext cx="1920240" cy="1005840"/>
          </a:xfrm>
          <a:prstGeom prst="rect">
            <a:avLst/>
          </a:prstGeom>
          <a:solidFill>
            <a:srgbClr val="00BFA5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64592" y="1115568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Exam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Submission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64592" y="171907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</a:rPr>
              <a:t>Producer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103120" y="1572768"/>
            <a:ext cx="347472" cy="0"/>
          </a:xfrm>
          <a:prstGeom prst="line">
            <a:avLst/>
          </a:prstGeom>
          <a:noFill/>
          <a:ln w="25400">
            <a:solidFill>
              <a:srgbClr val="90A4A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286000" y="1097280"/>
            <a:ext cx="1920240" cy="1005840"/>
          </a:xfrm>
          <a:prstGeom prst="rect">
            <a:avLst/>
          </a:prstGeom>
          <a:solidFill>
            <a:srgbClr val="1E88E5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286000" y="1115568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Kafka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Broker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286000" y="171907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</a:rPr>
              <a:t>Topic: student-records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224528" y="1572768"/>
            <a:ext cx="347472" cy="0"/>
          </a:xfrm>
          <a:prstGeom prst="line">
            <a:avLst/>
          </a:prstGeom>
          <a:noFill/>
          <a:ln w="25400">
            <a:solidFill>
              <a:srgbClr val="90A4A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407408" y="1097280"/>
            <a:ext cx="1920240" cy="1005840"/>
          </a:xfrm>
          <a:prstGeom prst="rect">
            <a:avLst/>
          </a:prstGeom>
          <a:solidFill>
            <a:srgbClr val="1565C0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407408" y="1115568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Partition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(x3)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407408" y="171907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</a:rPr>
              <a:t>Parallel Log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345936" y="1572768"/>
            <a:ext cx="347472" cy="0"/>
          </a:xfrm>
          <a:prstGeom prst="line">
            <a:avLst/>
          </a:prstGeom>
          <a:noFill/>
          <a:ln w="25400">
            <a:solidFill>
              <a:srgbClr val="90A4A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528816" y="1097280"/>
            <a:ext cx="1920240" cy="1005840"/>
          </a:xfrm>
          <a:prstGeom prst="rect">
            <a:avLst/>
          </a:prstGeom>
          <a:solidFill>
            <a:srgbClr val="FFD54F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528816" y="1115568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Spark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Streaming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28816" y="171907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</a:rPr>
              <a:t>Consumer Group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64592" y="2395728"/>
            <a:ext cx="4206240" cy="658368"/>
          </a:xfrm>
          <a:prstGeom prst="rect">
            <a:avLst/>
          </a:prstGeom>
          <a:solidFill>
            <a:srgbClr val="0D2137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01752" y="2505456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88E5"/>
                </a:solidFill>
              </a:rPr>
              <a:t>Topic: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353312" y="2505456"/>
            <a:ext cx="2880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</a:rPr>
              <a:t>Named channel for messages (student-records)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45152" y="2395728"/>
            <a:ext cx="4206240" cy="658368"/>
          </a:xfrm>
          <a:prstGeom prst="rect">
            <a:avLst/>
          </a:prstGeom>
          <a:solidFill>
            <a:srgbClr val="0D2137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782312" y="2505456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88E5"/>
                </a:solidFill>
              </a:rPr>
              <a:t>Partition: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833872" y="2505456"/>
            <a:ext cx="2880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</a:rPr>
              <a:t>Ordered, immutable log — parallel processing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64592" y="3218688"/>
            <a:ext cx="4206240" cy="658368"/>
          </a:xfrm>
          <a:prstGeom prst="rect">
            <a:avLst/>
          </a:prstGeom>
          <a:solidFill>
            <a:srgbClr val="0D2137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301752" y="3328416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88E5"/>
                </a:solidFill>
              </a:rPr>
              <a:t>Producer: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353312" y="3328416"/>
            <a:ext cx="2880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</a:rPr>
              <a:t>Publishes exam events in real-time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45152" y="3218688"/>
            <a:ext cx="4206240" cy="658368"/>
          </a:xfrm>
          <a:prstGeom prst="rect">
            <a:avLst/>
          </a:prstGeom>
          <a:solidFill>
            <a:srgbClr val="0D2137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782312" y="3328416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88E5"/>
                </a:solidFill>
              </a:rPr>
              <a:t>Consumer: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833872" y="3328416"/>
            <a:ext cx="2880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</a:rPr>
              <a:t>Spark Structured Streaming reads topic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64592" y="4041648"/>
            <a:ext cx="4206240" cy="658368"/>
          </a:xfrm>
          <a:prstGeom prst="rect">
            <a:avLst/>
          </a:prstGeom>
          <a:solidFill>
            <a:srgbClr val="0D2137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301752" y="4151376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88E5"/>
                </a:solidFill>
              </a:rPr>
              <a:t>Watermark: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353312" y="4151376"/>
            <a:ext cx="2880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</a:rPr>
              <a:t>.withWatermark("timestamp","5 sec")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645152" y="4041648"/>
            <a:ext cx="4206240" cy="658368"/>
          </a:xfrm>
          <a:prstGeom prst="rect">
            <a:avLst/>
          </a:prstGeom>
          <a:solidFill>
            <a:srgbClr val="0D2137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782312" y="4151376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88E5"/>
                </a:solidFill>
              </a:rPr>
              <a:t>Window: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833872" y="4151376"/>
            <a:ext cx="2880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</a:rPr>
              <a:t>10-sec tumbling, 5-sec slide aggregation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64592" y="4663440"/>
            <a:ext cx="8796528" cy="320040"/>
          </a:xfrm>
          <a:prstGeom prst="rect">
            <a:avLst/>
          </a:prstGeom>
          <a:solidFill>
            <a:srgbClr val="06111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256032" y="46634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BFA5"/>
                </a:solidFill>
              </a:rPr>
              <a:t>Dev: .format('rate').option('rowsPerSecond',5)   |   Prod: .format('kafka').option('bootstrap.servers','broker:9092')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274320" y="109728"/>
            <a:ext cx="2926080" cy="347472"/>
          </a:xfrm>
          <a:prstGeom prst="rect">
            <a:avLst/>
          </a:prstGeom>
          <a:solidFill>
            <a:srgbClr val="00BFA5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74320" y="10972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UNIT VI — Spark MLlib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201168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</a:rPr>
              <a:t>Machine Learning Pipeline (MLlib)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82880" y="1261872"/>
            <a:ext cx="1600200" cy="914400"/>
          </a:xfrm>
          <a:prstGeom prst="rect">
            <a:avLst/>
          </a:prstGeom>
          <a:solidFill>
            <a:srgbClr val="0D1B2A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82880" y="1261872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StringIndexer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x17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801368" y="1463040"/>
            <a:ext cx="201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2A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975104" y="1261872"/>
            <a:ext cx="1600200" cy="914400"/>
          </a:xfrm>
          <a:prstGeom prst="rect">
            <a:avLst/>
          </a:prstGeom>
          <a:solidFill>
            <a:srgbClr val="1565C0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975104" y="1261872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OneHot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Encoder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593592" y="1463040"/>
            <a:ext cx="201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2A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767328" y="1261872"/>
            <a:ext cx="1600200" cy="914400"/>
          </a:xfrm>
          <a:prstGeom prst="rect">
            <a:avLst/>
          </a:prstGeom>
          <a:solidFill>
            <a:srgbClr val="1E88E5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767328" y="1261872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Vector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Assembler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385816" y="1463040"/>
            <a:ext cx="201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2A"/>
                </a:solidFill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559552" y="1261872"/>
            <a:ext cx="1600200" cy="914400"/>
          </a:xfrm>
          <a:prstGeom prst="rect">
            <a:avLst/>
          </a:prstGeom>
          <a:solidFill>
            <a:srgbClr val="00BFA5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559552" y="1261872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Standard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Scaler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178040" y="1463040"/>
            <a:ext cx="201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2A"/>
                </a:solidFill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7351776" y="1261872"/>
            <a:ext cx="1600200" cy="914400"/>
          </a:xfrm>
          <a:prstGeom prst="rect">
            <a:avLst/>
          </a:prstGeom>
          <a:solidFill>
            <a:srgbClr val="1B5E20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351776" y="1261872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Logistic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Regression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182880" y="2331720"/>
            <a:ext cx="160020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256032" y="2395728"/>
            <a:ext cx="1463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55A64"/>
                </a:solidFill>
              </a:rPr>
              <a:t>Encode 17 categorical cols to numeric indices (handleInvalid=keep).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975104" y="2331720"/>
            <a:ext cx="160020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2048256" y="2395728"/>
            <a:ext cx="1463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55A64"/>
                </a:solidFill>
              </a:rPr>
              <a:t>Convert indices to binary vectors — eliminates ordinal bias.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767328" y="2331720"/>
            <a:ext cx="160020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840480" y="2395728"/>
            <a:ext cx="1463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55A64"/>
                </a:solidFill>
              </a:rPr>
              <a:t>Merge OHE + 15 numeric cols into single features vector.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559552" y="2331720"/>
            <a:ext cx="160020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632704" y="2395728"/>
            <a:ext cx="1463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55A64"/>
                </a:solidFill>
              </a:rPr>
              <a:t>Normalize to zero mean / unit std — critical for gradient descent.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351776" y="2331720"/>
            <a:ext cx="160020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7424928" y="2395728"/>
            <a:ext cx="1463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55A64"/>
                </a:solidFill>
              </a:rPr>
              <a:t>Binary classifier: maxIter=100, regParam=0.1.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82880" y="3675888"/>
            <a:ext cx="8778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Evaluation Results (Test Set)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182880" y="4005072"/>
            <a:ext cx="2029968" cy="868680"/>
          </a:xfrm>
          <a:prstGeom prst="rect">
            <a:avLst/>
          </a:prstGeom>
          <a:solidFill>
            <a:srgbClr val="1565C0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182880" y="4023360"/>
            <a:ext cx="2029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88.61%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182880" y="4507992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Accuracy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423160" y="4005072"/>
            <a:ext cx="2029968" cy="868680"/>
          </a:xfrm>
          <a:prstGeom prst="rect">
            <a:avLst/>
          </a:prstGeom>
          <a:solidFill>
            <a:srgbClr val="1E88E5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2423160" y="4023360"/>
            <a:ext cx="2029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0.8864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2423160" y="4507992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F1 Score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663440" y="4005072"/>
            <a:ext cx="2029968" cy="868680"/>
          </a:xfrm>
          <a:prstGeom prst="rect">
            <a:avLst/>
          </a:prstGeom>
          <a:solidFill>
            <a:srgbClr val="00BFA5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4663440" y="4023360"/>
            <a:ext cx="2029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0.9552</a:t>
            </a:r>
            <a:endParaRPr lang="en-US" sz="2800" dirty="0"/>
          </a:p>
        </p:txBody>
      </p:sp>
      <p:sp>
        <p:nvSpPr>
          <p:cNvPr id="39" name="Text 37"/>
          <p:cNvSpPr/>
          <p:nvPr/>
        </p:nvSpPr>
        <p:spPr>
          <a:xfrm>
            <a:off x="4663440" y="4507992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AUC-ROC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903720" y="4005072"/>
            <a:ext cx="2029968" cy="868680"/>
          </a:xfrm>
          <a:prstGeom prst="rect">
            <a:avLst/>
          </a:prstGeom>
          <a:solidFill>
            <a:srgbClr val="0D1B2A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6903720" y="4023360"/>
            <a:ext cx="2029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C:\INT315\output\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903720" y="4507992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Output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66BB6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274320" y="109728"/>
            <a:ext cx="2926080" cy="347472"/>
          </a:xfrm>
          <a:prstGeom prst="rect">
            <a:avLst/>
          </a:prstGeom>
          <a:solidFill>
            <a:srgbClr val="66BB6A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74320" y="10972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RESULTS &amp; EVALUATION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475488"/>
            <a:ext cx="8595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Key Findings &amp; Visualisations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82880" y="1078992"/>
            <a:ext cx="4206240" cy="896112"/>
          </a:xfrm>
          <a:prstGeom prst="rect">
            <a:avLst/>
          </a:prstGeom>
          <a:solidFill>
            <a:srgbClr val="0D2137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82880" y="1078992"/>
            <a:ext cx="73152" cy="896112"/>
          </a:xfrm>
          <a:prstGeom prst="rect">
            <a:avLst/>
          </a:prstGeom>
          <a:solidFill>
            <a:srgbClr val="FFD5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65760" y="117043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54F"/>
                </a:solidFill>
              </a:rPr>
              <a:t>Study Time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49961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</a:rPr>
              <a:t>Students studying &gt;10h/wk avg G3=14 vs 8 for &lt;2h/wk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078992"/>
            <a:ext cx="4206240" cy="896112"/>
          </a:xfrm>
          <a:prstGeom prst="rect">
            <a:avLst/>
          </a:prstGeom>
          <a:solidFill>
            <a:srgbClr val="0D2137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754880" y="1078992"/>
            <a:ext cx="73152" cy="896112"/>
          </a:xfrm>
          <a:prstGeom prst="rect">
            <a:avLst/>
          </a:prstGeom>
          <a:solidFill>
            <a:srgbClr val="EF53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937760" y="117043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5350"/>
                </a:solidFill>
              </a:rPr>
              <a:t>Failures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149961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</a:rPr>
              <a:t>Prior failures correlate -0.36 with G3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82880" y="2130552"/>
            <a:ext cx="4206240" cy="896112"/>
          </a:xfrm>
          <a:prstGeom prst="rect">
            <a:avLst/>
          </a:prstGeom>
          <a:solidFill>
            <a:srgbClr val="0D2137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182880" y="2130552"/>
            <a:ext cx="73152" cy="896112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65760" y="222199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88E5"/>
                </a:solidFill>
              </a:rPr>
              <a:t>Internet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255117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</a:rPr>
              <a:t>Home internet = +12% pass rate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2130552"/>
            <a:ext cx="4206240" cy="896112"/>
          </a:xfrm>
          <a:prstGeom prst="rect">
            <a:avLst/>
          </a:prstGeom>
          <a:solidFill>
            <a:srgbClr val="0D2137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754880" y="2130552"/>
            <a:ext cx="73152" cy="896112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937760" y="222199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FA5"/>
                </a:solidFill>
              </a:rPr>
              <a:t>G1 &amp; G2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37760" y="255117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</a:rPr>
              <a:t>Period grades predict G3 with r=0.80 and 0.90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82880" y="3246120"/>
            <a:ext cx="8796528" cy="292608"/>
          </a:xfrm>
          <a:prstGeom prst="rect">
            <a:avLst/>
          </a:prstGeom>
          <a:solidFill>
            <a:srgbClr val="0A19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274320" y="324612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FA5"/>
                </a:solidFill>
              </a:rPr>
              <a:t>6 Visualisations Saved to C:\INT315\output\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01168" y="3657600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A5"/>
                </a:solidFill>
              </a:rPr>
              <a:t>◉  </a:t>
            </a:r>
            <a:r>
              <a:rPr lang="en-US" sz="1200" dirty="0">
                <a:solidFill>
                  <a:srgbClr val="FFFFFF"/>
                </a:solidFill>
              </a:rPr>
              <a:t>Fig 1: Actual vs Predicted Bar Chart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182112" y="3657600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A5"/>
                </a:solidFill>
              </a:rPr>
              <a:t>◉  </a:t>
            </a:r>
            <a:r>
              <a:rPr lang="en-US" sz="1200" dirty="0">
                <a:solidFill>
                  <a:srgbClr val="FFFFFF"/>
                </a:solidFill>
              </a:rPr>
              <a:t>Fig 2: Confusion Matrix Heatmap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163056" y="3657600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A5"/>
                </a:solidFill>
              </a:rPr>
              <a:t>◉  </a:t>
            </a:r>
            <a:r>
              <a:rPr lang="en-US" sz="1200" dirty="0">
                <a:solidFill>
                  <a:srgbClr val="FFFFFF"/>
                </a:solidFill>
              </a:rPr>
              <a:t>Fig 3: Evaluation Metrics Bar Chart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01168" y="4206240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A5"/>
                </a:solidFill>
              </a:rPr>
              <a:t>◉  </a:t>
            </a:r>
            <a:r>
              <a:rPr lang="en-US" sz="1200" dirty="0">
                <a:solidFill>
                  <a:srgbClr val="FFFFFF"/>
                </a:solidFill>
              </a:rPr>
              <a:t>Fig 4: G3 Grade Distribution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182112" y="4206240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A5"/>
                </a:solidFill>
              </a:rPr>
              <a:t>◉  </a:t>
            </a:r>
            <a:r>
              <a:rPr lang="en-US" sz="1200" dirty="0">
                <a:solidFill>
                  <a:srgbClr val="FFFFFF"/>
                </a:solidFill>
              </a:rPr>
              <a:t>Fig 5: Feature Correlation Heatmap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63056" y="4206240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A5"/>
                </a:solidFill>
              </a:rPr>
              <a:t>◉  </a:t>
            </a:r>
            <a:r>
              <a:rPr lang="en-US" sz="1200" dirty="0">
                <a:solidFill>
                  <a:srgbClr val="FFFFFF"/>
                </a:solidFill>
              </a:rPr>
              <a:t>Fig 6: Pass Rate by Study Time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ig1_actual_vs_predicted.png" title="fig1_actual_vs_predicted.png">
            <a:extLst>
              <a:ext uri="{FF2B5EF4-FFF2-40B4-BE49-F238E27FC236}">
                <a16:creationId xmlns:a16="http://schemas.microsoft.com/office/drawing/2014/main" id="{09CE345D-832A-76BD-E4F1-72B3DBA09E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9241" y="578796"/>
            <a:ext cx="2412784" cy="1723417"/>
          </a:xfrm>
          <a:prstGeom prst="rect">
            <a:avLst/>
          </a:prstGeom>
        </p:spPr>
      </p:pic>
      <p:pic>
        <p:nvPicPr>
          <p:cNvPr id="3" name="fig2_confusion_matrix.png" title="fig2_confusion_matrix.png">
            <a:extLst>
              <a:ext uri="{FF2B5EF4-FFF2-40B4-BE49-F238E27FC236}">
                <a16:creationId xmlns:a16="http://schemas.microsoft.com/office/drawing/2014/main" id="{E329FD5B-A739-A8B9-7175-E5E5064E303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79386" y="568250"/>
            <a:ext cx="2274246" cy="1806019"/>
          </a:xfrm>
          <a:prstGeom prst="rect">
            <a:avLst/>
          </a:prstGeom>
        </p:spPr>
      </p:pic>
      <p:pic>
        <p:nvPicPr>
          <p:cNvPr id="4" name="fig3_eval_metrics.png" title="fig3_eval_metrics.png">
            <a:extLst>
              <a:ext uri="{FF2B5EF4-FFF2-40B4-BE49-F238E27FC236}">
                <a16:creationId xmlns:a16="http://schemas.microsoft.com/office/drawing/2014/main" id="{E735DD19-F1AE-8E26-17CB-7DC68F40173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220993" y="578796"/>
            <a:ext cx="2528427" cy="1806019"/>
          </a:xfrm>
          <a:prstGeom prst="rect">
            <a:avLst/>
          </a:prstGeom>
        </p:spPr>
      </p:pic>
      <p:pic>
        <p:nvPicPr>
          <p:cNvPr id="5" name="fig4_grade_distribution.png" title="fig4_grade_distribution.png">
            <a:extLst>
              <a:ext uri="{FF2B5EF4-FFF2-40B4-BE49-F238E27FC236}">
                <a16:creationId xmlns:a16="http://schemas.microsoft.com/office/drawing/2014/main" id="{BBB7F431-253D-B866-4EF4-9EEE7D777CE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99239" y="2841286"/>
            <a:ext cx="2412786" cy="1723418"/>
          </a:xfrm>
          <a:prstGeom prst="rect">
            <a:avLst/>
          </a:prstGeom>
        </p:spPr>
      </p:pic>
      <p:pic>
        <p:nvPicPr>
          <p:cNvPr id="6" name="fig5_correlation_heatmap.png" title="fig5_correlation_heatmap.png">
            <a:extLst>
              <a:ext uri="{FF2B5EF4-FFF2-40B4-BE49-F238E27FC236}">
                <a16:creationId xmlns:a16="http://schemas.microsoft.com/office/drawing/2014/main" id="{EDE984B2-EB4F-49D9-CD06-5BCAF3D436F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2879387" y="2841286"/>
            <a:ext cx="2274246" cy="1841056"/>
          </a:xfrm>
          <a:prstGeom prst="rect">
            <a:avLst/>
          </a:prstGeom>
        </p:spPr>
      </p:pic>
      <p:pic>
        <p:nvPicPr>
          <p:cNvPr id="7" name="fig6_passrate_studytime.png" title="fig6_passrate_studytime.png">
            <a:extLst>
              <a:ext uri="{FF2B5EF4-FFF2-40B4-BE49-F238E27FC236}">
                <a16:creationId xmlns:a16="http://schemas.microsoft.com/office/drawing/2014/main" id="{783C9134-8195-33E3-9D39-07B9DCE29F5A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5220993" y="2841286"/>
            <a:ext cx="2377600" cy="169828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00BC77B-918C-F1D1-EAD7-6C89A5D1955C}"/>
              </a:ext>
            </a:extLst>
          </p:cNvPr>
          <p:cNvSpPr txBox="1"/>
          <p:nvPr/>
        </p:nvSpPr>
        <p:spPr>
          <a:xfrm>
            <a:off x="1108954" y="2374269"/>
            <a:ext cx="5512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/>
              <a:t>Fig 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1A7291F-8D54-7623-16A2-91E5D6778A54}"/>
              </a:ext>
            </a:extLst>
          </p:cNvPr>
          <p:cNvSpPr txBox="1"/>
          <p:nvPr/>
        </p:nvSpPr>
        <p:spPr>
          <a:xfrm>
            <a:off x="3740892" y="2395864"/>
            <a:ext cx="5512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/>
              <a:t>Fig 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DD0C862-E734-EB28-8586-77DB601E7F08}"/>
              </a:ext>
            </a:extLst>
          </p:cNvPr>
          <p:cNvSpPr txBox="1"/>
          <p:nvPr/>
        </p:nvSpPr>
        <p:spPr>
          <a:xfrm>
            <a:off x="6277584" y="2392110"/>
            <a:ext cx="5512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/>
              <a:t>Fig 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5CC1D8F-5E82-4D60-2F8E-026FCCC16450}"/>
              </a:ext>
            </a:extLst>
          </p:cNvPr>
          <p:cNvSpPr txBox="1"/>
          <p:nvPr/>
        </p:nvSpPr>
        <p:spPr>
          <a:xfrm>
            <a:off x="1108954" y="4596116"/>
            <a:ext cx="5512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/>
              <a:t>Fig 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4EA9CF7-60B4-D70B-54AA-3AD15DEE5E10}"/>
              </a:ext>
            </a:extLst>
          </p:cNvPr>
          <p:cNvSpPr txBox="1"/>
          <p:nvPr/>
        </p:nvSpPr>
        <p:spPr>
          <a:xfrm>
            <a:off x="3740892" y="4575250"/>
            <a:ext cx="5512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/>
              <a:t>Fig 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370A4D8-887D-5824-16A9-D26C5E69D6A2}"/>
              </a:ext>
            </a:extLst>
          </p:cNvPr>
          <p:cNvSpPr txBox="1"/>
          <p:nvPr/>
        </p:nvSpPr>
        <p:spPr>
          <a:xfrm>
            <a:off x="6326223" y="4551537"/>
            <a:ext cx="5512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/>
              <a:t>Fig 6</a:t>
            </a:r>
          </a:p>
        </p:txBody>
      </p:sp>
    </p:spTree>
    <p:extLst>
      <p:ext uri="{BB962C8B-B14F-4D97-AF65-F5344CB8AC3E}">
        <p14:creationId xmlns:p14="http://schemas.microsoft.com/office/powerpoint/2010/main" val="33326878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274320" y="109728"/>
            <a:ext cx="2926080" cy="347472"/>
          </a:xfrm>
          <a:prstGeom prst="rect">
            <a:avLst/>
          </a:prstGeom>
          <a:solidFill>
            <a:srgbClr val="1565C0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74320" y="10972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SYLLABUS COVERAGE SUMMARY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201168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</a:rPr>
              <a:t>All Six Units — Mapped to Project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01168" y="1188720"/>
            <a:ext cx="8741664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01168" y="1188720"/>
            <a:ext cx="1371600" cy="5486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01168" y="11887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Unit 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627632" y="1280160"/>
            <a:ext cx="347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</a:rPr>
              <a:t>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011680" y="1280160"/>
            <a:ext cx="6766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</a:rPr>
              <a:t>Spark vs Hadoop, in-memory processing, local FS path, SparkSession config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01168" y="1810512"/>
            <a:ext cx="8741664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01168" y="1810512"/>
            <a:ext cx="1371600" cy="54864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01168" y="181051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Unit II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627632" y="1901952"/>
            <a:ext cx="347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565C0"/>
                </a:solidFill>
              </a:rPr>
              <a:t>✓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011680" y="1901952"/>
            <a:ext cx="6766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</a:rPr>
              <a:t>Scala concepts mapped to PySpark equivalents (lambda, immutability, RDDs)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01168" y="2432304"/>
            <a:ext cx="8741664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201168" y="2432304"/>
            <a:ext cx="1371600" cy="54864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201168" y="2432304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Unit III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627632" y="2523744"/>
            <a:ext cx="347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88E5"/>
                </a:solidFill>
              </a:rPr>
              <a:t>✓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011680" y="2523744"/>
            <a:ext cx="6766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</a:rPr>
              <a:t>RDD map/filter/reduceByKey/groupByKey, broadcast, accumulator, GraphX graph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01168" y="3054096"/>
            <a:ext cx="8741664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201168" y="3054096"/>
            <a:ext cx="1371600" cy="548640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201168" y="3054096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Unit IV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627632" y="3145536"/>
            <a:ext cx="347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FA5"/>
                </a:solidFill>
              </a:rPr>
              <a:t>✓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2011680" y="3145536"/>
            <a:ext cx="6766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</a:rPr>
              <a:t>Spark SQL: GROUP BY, HAVING, LIKE wildcard, ORDER BY, Window functions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01168" y="3675888"/>
            <a:ext cx="8741664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201168" y="3675888"/>
            <a:ext cx="1371600" cy="548640"/>
          </a:xfrm>
          <a:prstGeom prst="rect">
            <a:avLst/>
          </a:prstGeom>
          <a:solidFill>
            <a:srgbClr val="7B1FA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201168" y="367588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Unit V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627632" y="3767328"/>
            <a:ext cx="347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B1FA2"/>
                </a:solidFill>
              </a:rPr>
              <a:t>✓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2011680" y="3767328"/>
            <a:ext cx="6766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</a:rPr>
              <a:t>Kafka architecture, producer/consumer, Structured Streaming + watermarking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01168" y="4297680"/>
            <a:ext cx="8741664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201168" y="4297680"/>
            <a:ext cx="1371600" cy="548640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201168" y="42976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Unit VI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627632" y="4389120"/>
            <a:ext cx="347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5E20"/>
                </a:solidFill>
              </a:rPr>
              <a:t>✓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2011680" y="4389120"/>
            <a:ext cx="6766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</a:rPr>
              <a:t>MLlib Pipeline: StringIndexer, OHE, LR, CV, 6 charts saved to C:\INT315\output\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5029200" y="2560320"/>
            <a:ext cx="4572000" cy="457200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858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Conclusions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85800" y="804672"/>
            <a:ext cx="4114800" cy="0"/>
          </a:xfrm>
          <a:prstGeom prst="line">
            <a:avLst/>
          </a:prstGeom>
          <a:noFill/>
          <a:ln w="254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1024128"/>
            <a:ext cx="6858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FA5"/>
                </a:solidFill>
              </a:rPr>
              <a:t>✓  </a:t>
            </a:r>
            <a:r>
              <a:rPr lang="en-US" sz="1350" dirty="0">
                <a:solidFill>
                  <a:srgbClr val="FFFFFF"/>
                </a:solidFill>
              </a:rPr>
              <a:t>End-to-end distributed ML pipeline built on Apache Spark — all 6 units covered.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1618488"/>
            <a:ext cx="6858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FA5"/>
                </a:solidFill>
              </a:rPr>
              <a:t>✓  </a:t>
            </a:r>
            <a:r>
              <a:rPr lang="en-US" sz="1350" dirty="0">
                <a:solidFill>
                  <a:srgbClr val="FFFFFF"/>
                </a:solidFill>
              </a:rPr>
              <a:t>Dataset read directly from C:\INT315\ — no HDFS setup required on laptop.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2212848"/>
            <a:ext cx="6858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FA5"/>
                </a:solidFill>
              </a:rPr>
              <a:t>✓  </a:t>
            </a:r>
            <a:r>
              <a:rPr lang="en-US" sz="1350" dirty="0">
                <a:solidFill>
                  <a:srgbClr val="FFFFFF"/>
                </a:solidFill>
              </a:rPr>
              <a:t>Achieved 88.61% accuracy and 0.9552 AUC-ROC with Logistic Regression.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2807208"/>
            <a:ext cx="6858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FA5"/>
                </a:solidFill>
              </a:rPr>
              <a:t>✓  </a:t>
            </a:r>
            <a:r>
              <a:rPr lang="en-US" sz="1350" dirty="0">
                <a:solidFill>
                  <a:srgbClr val="FFFFFF"/>
                </a:solidFill>
              </a:rPr>
              <a:t>RDD ops, SQL (6 queries), GraphX, Kafka streaming, MLlib all implemented.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3401568"/>
            <a:ext cx="6858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FA5"/>
                </a:solidFill>
              </a:rPr>
              <a:t>✓  </a:t>
            </a:r>
            <a:r>
              <a:rPr lang="en-US" sz="1350" dirty="0">
                <a:solidFill>
                  <a:srgbClr val="FFFFFF"/>
                </a:solidFill>
              </a:rPr>
              <a:t>6 visualisations auto-saved to C:\INT315\output\ on every run.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3995928"/>
            <a:ext cx="6858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FA5"/>
                </a:solidFill>
              </a:rPr>
              <a:t>✓  </a:t>
            </a:r>
            <a:r>
              <a:rPr lang="en-US" sz="1350" dirty="0">
                <a:solidFill>
                  <a:srgbClr val="FFFFFF"/>
                </a:solidFill>
              </a:rPr>
              <a:t>In production: change 1 line to hdfs:// path — everything else unchanged.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85800" y="4544568"/>
            <a:ext cx="822960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85800" y="45445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Thank You  |  Questions Welcome  |  INT315 Cluster Computing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</TotalTime>
  <Words>1169</Words>
  <Application>Microsoft Office PowerPoint</Application>
  <PresentationFormat>On-screen Show (16:9)</PresentationFormat>
  <Paragraphs>228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Gerald Muzembe</cp:lastModifiedBy>
  <cp:revision>2</cp:revision>
  <dcterms:created xsi:type="dcterms:W3CDTF">2026-04-09T11:05:26Z</dcterms:created>
  <dcterms:modified xsi:type="dcterms:W3CDTF">2026-04-09T15:11:24Z</dcterms:modified>
</cp:coreProperties>
</file>